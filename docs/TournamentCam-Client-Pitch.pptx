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76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Great rallies should not disappear when the match ends. TournamentCam helps a venue offer players a recording they can revisit and share. This is a working application prototype; we propose a one-court hardware pilot, not an already-certified commercial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player needs we propose validating with your customers, not claims from a completed market study. Ask which matters most to their players: memories, coaching or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real recorded sample during a live demonstration, if available. Do not present a reference screenshot as a recording created by our app. Link expiry affects shared access, not file deletion.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on this slide is a schematic, not an application screenshot. The app includes manual side-out scoring, server rotation, targets 11/15/21, win by two and undo. No automated line calls or ball tracking are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4K-capable NVR does not increase the resolution of a 2 MP camera. The app selects channels 1–16, but concurrent recording capacity needs load testing. Framing is manual; fixed cameras must be physically aimed. This version does not provide a live NVR preview in the browser, PTZ or automatic ball tracking. Trial mounting height is roughly 3–4 metres depending on lens and safe venue clearance, subject to installer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pricing or ROI without understanding venue operations and player demand. Discuss whether the operator prefers an add-on, included benefit or coaching package. Branded advertising, automatic highlights and tournament brackets are not current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and seven automated tests passed, including scoring and server access/link behavior. Browser UI and real-camera end-to-end testing were not performed. API tests use a container-header fixture, not a decodable match recording. Not included: automatic highlights, AI tracking, PTZ, automatic email delivery, historical NVR archive import or exported clip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pilot acceptance journey: start a real match, stop and finalize, play and seek, download, open a share link on a separate device, revoke it, and recover from network interruption. Define measurable thresholds with the client before starting. Avoid promising a fixed launch date until access and hardware are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Would you be open to a one-court pilot, with success measured by reliable recordings, easy player access and whether players value the experience? Ask for exact camera and NVR models, the venue technical contact and a suitable pilot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https://usapickleball.org/rules/ ; https://usapickleball.org/rules/summary/ ; https://www.dahuawiki.com/index.php?curid=732&amp;title=Remote_Access%2FRTSP_via_VLC . Local documentation: docs/TECHNICAL.md, docs/USER-MANUAL.md, docs/FEATURES.md, docs/VALIDATION.md. Share recipients can retain downloaded copies after revocation. Follow the venue recording notice and consent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9DB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365447"/>
          </a:solidFill>
          <a:ln w="12700">
            <a:solidFill>
              <a:srgbClr val="36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 RALLIES.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WORTH REPLAYING.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54787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BCD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match on your court into a memory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BCD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players can watch, keep and share.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40080" y="4992624"/>
            <a:ext cx="3657600" cy="530352"/>
          </a:xfrm>
          <a:prstGeom prst="rect">
            <a:avLst/>
          </a:prstGeom>
          <a:solidFill>
            <a:srgbClr val="D3F783"/>
          </a:solidFill>
          <a:ln w="12700">
            <a:solidFill>
              <a:srgbClr val="D3F7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52029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COURT. ONE PRACTICAL PILOT.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66760" y="1417320"/>
            <a:ext cx="2880360" cy="4251960"/>
          </a:xfrm>
          <a:prstGeom prst="rect">
            <a:avLst/>
          </a:prstGeom>
          <a:solidFill>
            <a:srgbClr val="285941"/>
          </a:solidFill>
          <a:ln w="12700">
            <a:solidFill>
              <a:srgbClr val="8CA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54796" y="1757477"/>
            <a:ext cx="2304288" cy="3571646"/>
          </a:xfrm>
          <a:prstGeom prst="rect">
            <a:avLst/>
          </a:prstGeom>
          <a:solidFill>
            <a:srgbClr val="3C7252"/>
          </a:solidFill>
          <a:ln w="1270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54796" y="2948026"/>
            <a:ext cx="2304288" cy="1190549"/>
          </a:xfrm>
          <a:prstGeom prst="rect">
            <a:avLst/>
          </a:prstGeom>
          <a:solidFill>
            <a:srgbClr val="5D8963"/>
          </a:solidFill>
          <a:ln w="1270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06940" y="1757477"/>
            <a:ext cx="0" cy="1190549"/>
          </a:xfrm>
          <a:prstGeom prst="line">
            <a:avLst/>
          </a:prstGeom>
          <a:noFill/>
          <a:ln w="1905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806940" y="4138574"/>
            <a:ext cx="0" cy="1190549"/>
          </a:xfrm>
          <a:prstGeom prst="line">
            <a:avLst/>
          </a:prstGeom>
          <a:noFill/>
          <a:ln w="1905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68385" y="3543300"/>
            <a:ext cx="247711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92440" y="5852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 /  REPLAY  /  SHARE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PLAYER OPPORTUNITY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match ends. The value can continue.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experience players can take home from your venue.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35295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4107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RELIVE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41064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best moments.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22960" y="478231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the rally everyone was talking about after the game.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4256" y="3154680"/>
            <a:ext cx="35295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62856" y="34107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IMPROVE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2856" y="3941064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game again.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62856" y="478231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replay and slow playback to support player and coach review.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74152" y="3154680"/>
            <a:ext cx="35295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2752" y="34107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CONNECT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2752" y="3941064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the experience.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302752" y="478231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players a simple watch link and a downloadable match.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first serve to a shareable match.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straightforward workflow for staff and players.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26151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77240" y="4151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6817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court, name the match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check the camera angle.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10712" y="3246120"/>
            <a:ext cx="26151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93592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93592" y="4151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93592" y="46817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game; manually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moments and enter scores.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27064" y="3246120"/>
            <a:ext cx="26151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9944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9944" y="4151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46817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the saved match, change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and jump to bookmarks.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43416" y="3246120"/>
            <a:ext cx="2615184" cy="2286000"/>
          </a:xfrm>
          <a:prstGeom prst="rect">
            <a:avLst/>
          </a:prstGeom>
          <a:solidFill>
            <a:srgbClr val="174D3B"/>
          </a:solidFill>
          <a:ln w="12700">
            <a:solidFill>
              <a:srgbClr val="174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26296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226296" y="4151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26296" y="46817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14-day watch link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download the recording.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recording desk built around the court.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interface layout — the actual application is available for a live demo.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6858000" cy="2926080"/>
          </a:xfrm>
          <a:prstGeom prst="rect">
            <a:avLst/>
          </a:prstGeom>
          <a:solidFill>
            <a:srgbClr val="112E27"/>
          </a:solidFill>
          <a:ln w="12700">
            <a:solidFill>
              <a:srgbClr val="112E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264408"/>
            <a:ext cx="3749040" cy="2240280"/>
          </a:xfrm>
          <a:prstGeom prst="rect">
            <a:avLst/>
          </a:prstGeom>
          <a:solidFill>
            <a:srgbClr val="285941"/>
          </a:solidFill>
          <a:ln w="12700">
            <a:solidFill>
              <a:srgbClr val="8CA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3443630"/>
            <a:ext cx="2999232" cy="1881835"/>
          </a:xfrm>
          <a:prstGeom prst="rect">
            <a:avLst/>
          </a:prstGeom>
          <a:solidFill>
            <a:srgbClr val="3C7252"/>
          </a:solidFill>
          <a:ln w="1270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89304" y="4070909"/>
            <a:ext cx="2999232" cy="627278"/>
          </a:xfrm>
          <a:prstGeom prst="rect">
            <a:avLst/>
          </a:prstGeom>
          <a:solidFill>
            <a:srgbClr val="5D8963"/>
          </a:solidFill>
          <a:ln w="1270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88920" y="3443630"/>
            <a:ext cx="0" cy="627278"/>
          </a:xfrm>
          <a:prstGeom prst="line">
            <a:avLst/>
          </a:prstGeom>
          <a:noFill/>
          <a:ln w="1905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88920" y="4698187"/>
            <a:ext cx="0" cy="627278"/>
          </a:xfrm>
          <a:prstGeom prst="line">
            <a:avLst/>
          </a:prstGeom>
          <a:noFill/>
          <a:ln w="1905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76833" y="4384548"/>
            <a:ext cx="3224174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 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Evening doubles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937760" y="4590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D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• Mark moments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D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&amp; save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5394960"/>
            <a:ext cx="2011680" cy="347472"/>
          </a:xfrm>
          <a:prstGeom prst="rect">
            <a:avLst/>
          </a:prstGeom>
          <a:solidFill>
            <a:srgbClr val="D3F783"/>
          </a:solidFill>
          <a:ln w="12700">
            <a:solidFill>
              <a:srgbClr val="D3F7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5522976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RECORDING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956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the essentials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909560" y="384048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name and court selection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singles / doubles scoring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Browser camera or NVR capture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Searchable saved-match library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AND EQUIPMENT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your Dahua setup. Validate one court.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equipment: Dahua IP 2 MP camera + 16-channel, 4K-capable NVR.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2788920" cy="2468880"/>
          </a:xfrm>
          <a:prstGeom prst="rect">
            <a:avLst/>
          </a:prstGeom>
          <a:solidFill>
            <a:srgbClr val="285941"/>
          </a:solidFill>
          <a:ln w="12700">
            <a:solidFill>
              <a:srgbClr val="8CA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1852" y="3260750"/>
            <a:ext cx="2231136" cy="2073859"/>
          </a:xfrm>
          <a:prstGeom prst="rect">
            <a:avLst/>
          </a:prstGeom>
          <a:solidFill>
            <a:srgbClr val="3C7252"/>
          </a:solidFill>
          <a:ln w="1270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01852" y="3952037"/>
            <a:ext cx="2231136" cy="691286"/>
          </a:xfrm>
          <a:prstGeom prst="rect">
            <a:avLst/>
          </a:prstGeom>
          <a:solidFill>
            <a:srgbClr val="5D8963"/>
          </a:solidFill>
          <a:ln w="1270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17420" y="3260750"/>
            <a:ext cx="0" cy="691286"/>
          </a:xfrm>
          <a:prstGeom prst="line">
            <a:avLst/>
          </a:prstGeom>
          <a:noFill/>
          <a:ln w="1905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17420" y="4643323"/>
            <a:ext cx="0" cy="691286"/>
          </a:xfrm>
          <a:prstGeom prst="line">
            <a:avLst/>
          </a:prstGeom>
          <a:noFill/>
          <a:ln w="19050">
            <a:solidFill>
              <a:srgbClr val="D3E9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8184" y="4297680"/>
            <a:ext cx="2398471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5705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BEHIND BASELINE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angle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160520" y="3712464"/>
            <a:ext cx="3154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Elevated, centered baseline view.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court corner and player run-off in frame.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coverage and motion clarity under real match lighting.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0956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connection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909560" y="3712464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NVR → local recording server → app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FFmpeg, RTSP access and configured credentials.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model and hardware compatibility still need testing.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OPPORTUNITIES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offer your players value.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business models to validate — no revenue or demand assumptions are built in.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35295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4107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PER 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41064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booking add-on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22960" y="478231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a recording alongside court time. Measure uptake and willingness to pay.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4256" y="3154680"/>
            <a:ext cx="35295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62856" y="34107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2856" y="3941064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extra reason to join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62856" y="478231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selected recordings into membership benefits. Track use and feedback.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74152" y="3154680"/>
            <a:ext cx="35295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2752" y="34107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COACHING &amp; EVENTS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2752" y="3941064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richer session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302752" y="478231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coaching reviews and tournament memories with full-match replay.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AND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prototype. A clear path to a pilot.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specific about what is implemented and what remains to be proven.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5394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5394960" cy="2971800"/>
          </a:xfrm>
          <a:prstGeom prst="rect">
            <a:avLst/>
          </a:prstGeom>
          <a:solidFill>
            <a:srgbClr val="EAF0E3"/>
          </a:solidFill>
          <a:ln w="12700">
            <a:solidFill>
              <a:srgbClr val="EAF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IN THE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 workflows and saved-match library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Replay, bookmarks and downloads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Expiring share links and revocation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scoring and installable PWA shell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guide and operator manual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ACCEPTANCE STILL REQUIRED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84048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Dahua / NVR capture and sustained recording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Browser, mobile and video playback checks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angle and night-time image quality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deployment and operator access setup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 capacity, backups and staff workflow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the experience on one court first.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the pilot duration, responsibilities and success thresholds together.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11000232" cy="548640"/>
          </a:xfrm>
          <a:prstGeom prst="rect">
            <a:avLst/>
          </a:prstGeom>
          <a:solidFill>
            <a:srgbClr val="E7EEDF"/>
          </a:solidFill>
          <a:ln w="12700">
            <a:solidFill>
              <a:srgbClr val="E7EE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PREPARE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182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model numbers, court angle, network access and storage.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3721608"/>
            <a:ext cx="110002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867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RUN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840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real sessions. Have staff save matches and players open links.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379976"/>
            <a:ext cx="11000232" cy="548640"/>
          </a:xfrm>
          <a:prstGeom prst="rect">
            <a:avLst/>
          </a:prstGeom>
          <a:solidFill>
            <a:srgbClr val="E7EEDF"/>
          </a:solidFill>
          <a:ln w="12700">
            <a:solidFill>
              <a:srgbClr val="E7EE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4498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capture reliability, staff effort, player access and interest.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4360" y="5038344"/>
            <a:ext cx="110002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184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DECIDE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5157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results and costs before expanding to more courts.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9DB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365447"/>
          </a:solidFill>
          <a:ln w="12700">
            <a:solidFill>
              <a:srgbClr val="36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LET’S GIVE YOUR PLAYERS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GAME TO TAKE HOME.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D3F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court. Real matches. A measurable pilot.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CD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a short venue walkthrough to confirm the camera,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BCD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network, recording workflow and pilot success criteria.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PILOT PROPOSAL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19088"/>
            <a:ext cx="11064240" cy="10973"/>
          </a:xfrm>
          <a:prstGeom prst="rect">
            <a:avLst/>
          </a:prstGeom>
          <a:solidFill>
            <a:srgbClr val="DEE6DA"/>
          </a:solidFill>
          <a:ln w="12700">
            <a:solidFill>
              <a:srgbClr val="DE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471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COURT. YOUR GAME. YOUR REPLAY.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OPERATIONAL DETAIL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venue needs to know.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for technical and operational questions.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&amp; sharing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Recordings are stored on the recording server.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links expire after 14 days and can be revoked.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are not automatically deleted when links expire.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Backups, disk monitoring and retention need an operator.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&amp; limitations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36576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sharing requires a reachable HTTPS domain.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uses a shared operator access key.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capture needs an open tab and sufficient memory.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18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 shell caching does not make server video available offline.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4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USA Pickleball official rules • Dahua RTSP documentation • Project technical and operator guides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cf2ba15-c468-47c8-b178-cba8acf110ec}" enabled="1" method="Standard" siteId="{eb25818e-5bd5-49bf-99de-53e3e7b4263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1444</Words>
  <Application>Microsoft Office PowerPoint</Application>
  <PresentationFormat>Widescreen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TournamentCam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TournamentCam | Great rallies. Worth replaying.</dc:title>
  <dc:subject>Pickleball recording and replay — client pilot proposal</dc:subject>
  <dc:creator>TournamentCam</dc:creator>
  <cp:lastModifiedBy>Caparas Ver (ERNI)</cp:lastModifiedBy>
  <cp:revision>2</cp:revision>
  <dcterms:created xsi:type="dcterms:W3CDTF">2026-10-17T11:01:17Z</dcterms:created>
  <dcterms:modified xsi:type="dcterms:W3CDTF">2026-10-18T04:26:20Z</dcterms:modified>
</cp:coreProperties>
</file>